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3" r:id="rId8"/>
    <p:sldId id="265" r:id="rId9"/>
    <p:sldId id="2146847057" r:id="rId10"/>
    <p:sldId id="2146847060" r:id="rId11"/>
    <p:sldId id="2146847062" r:id="rId12"/>
    <p:sldId id="2146847061" r:id="rId13"/>
    <p:sldId id="2146847055"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2/12/2025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2/12/2025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2/12/2025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2/12/2025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2/12/2025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2/12/2025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2/12/2025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2/12/2025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2/12/2025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2/12/2025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2/12/2025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2/12/2025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PROJECT 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 </a:t>
            </a:r>
            <a:r>
              <a:rPr lang="en-US" sz="2000" b="1" dirty="0" err="1">
                <a:solidFill>
                  <a:schemeClr val="accent1">
                    <a:lumMod val="75000"/>
                  </a:schemeClr>
                </a:solidFill>
                <a:latin typeface="Arial" pitchFamily="34" charset="0"/>
                <a:cs typeface="Arial" pitchFamily="34" charset="0"/>
              </a:rPr>
              <a:t>Ujwal</a:t>
            </a:r>
            <a:r>
              <a:rPr lang="en-US" sz="2000" b="1" dirty="0">
                <a:solidFill>
                  <a:schemeClr val="accent1">
                    <a:lumMod val="75000"/>
                  </a:schemeClr>
                </a:solidFill>
                <a:latin typeface="Arial" pitchFamily="34" charset="0"/>
                <a:cs typeface="Arial" pitchFamily="34" charset="0"/>
              </a:rPr>
              <a:t> </a:t>
            </a:r>
            <a:r>
              <a:rPr lang="en-US" sz="2000" b="1" dirty="0" err="1">
                <a:solidFill>
                  <a:schemeClr val="accent1">
                    <a:lumMod val="75000"/>
                  </a:schemeClr>
                </a:solidFill>
                <a:latin typeface="Arial" pitchFamily="34" charset="0"/>
                <a:cs typeface="Arial" pitchFamily="34" charset="0"/>
              </a:rPr>
              <a:t>Santoshbhai</a:t>
            </a:r>
            <a:r>
              <a:rPr lang="en-US" sz="2000" b="1" dirty="0">
                <a:solidFill>
                  <a:schemeClr val="accent1">
                    <a:lumMod val="75000"/>
                  </a:schemeClr>
                </a:solidFill>
                <a:latin typeface="Arial" pitchFamily="34" charset="0"/>
                <a:cs typeface="Arial" pitchFamily="34" charset="0"/>
              </a:rPr>
              <a:t> </a:t>
            </a:r>
            <a:r>
              <a:rPr lang="en-US" sz="2000" b="1" dirty="0" err="1">
                <a:solidFill>
                  <a:schemeClr val="accent1">
                    <a:lumMod val="75000"/>
                  </a:schemeClr>
                </a:solidFill>
                <a:latin typeface="Arial" pitchFamily="34" charset="0"/>
                <a:cs typeface="Arial" pitchFamily="34" charset="0"/>
              </a:rPr>
              <a:t>Nikumbe</a:t>
            </a:r>
            <a:endParaRPr lang="en-US" sz="2000" b="1" dirty="0">
              <a:solidFill>
                <a:schemeClr val="accent1">
                  <a:lumMod val="75000"/>
                </a:schemeClr>
              </a:solidFill>
              <a:latin typeface="Arial" pitchFamily="34" charset="0"/>
              <a:cs typeface="Arial" pitchFamily="34" charset="0"/>
            </a:endParaRPr>
          </a:p>
          <a:p>
            <a:r>
              <a:rPr lang="en-US" sz="2000" b="1" dirty="0">
                <a:solidFill>
                  <a:schemeClr val="accent1">
                    <a:lumMod val="75000"/>
                  </a:schemeClr>
                </a:solidFill>
                <a:latin typeface="Arial"/>
                <a:cs typeface="Arial"/>
              </a:rPr>
              <a:t>Student Name : </a:t>
            </a:r>
            <a:r>
              <a:rPr lang="en-US" sz="2000" b="1" dirty="0" err="1">
                <a:solidFill>
                  <a:schemeClr val="accent1">
                    <a:lumMod val="75000"/>
                  </a:schemeClr>
                </a:solidFill>
                <a:latin typeface="Arial"/>
                <a:cs typeface="Arial"/>
              </a:rPr>
              <a:t>Ujwal</a:t>
            </a:r>
            <a:r>
              <a:rPr lang="en-US" sz="2000" b="1" dirty="0">
                <a:solidFill>
                  <a:schemeClr val="accent1">
                    <a:lumMod val="75000"/>
                  </a:schemeClr>
                </a:solidFill>
                <a:latin typeface="Arial"/>
                <a:cs typeface="Arial"/>
              </a:rPr>
              <a:t> </a:t>
            </a:r>
            <a:r>
              <a:rPr lang="en-US" sz="2000" b="1" dirty="0" err="1">
                <a:solidFill>
                  <a:schemeClr val="accent1">
                    <a:lumMod val="75000"/>
                  </a:schemeClr>
                </a:solidFill>
                <a:latin typeface="Arial"/>
                <a:cs typeface="Arial"/>
              </a:rPr>
              <a:t>Santoshbhai</a:t>
            </a:r>
            <a:r>
              <a:rPr lang="en-US" sz="2000" b="1" dirty="0">
                <a:solidFill>
                  <a:schemeClr val="accent1">
                    <a:lumMod val="75000"/>
                  </a:schemeClr>
                </a:solidFill>
                <a:latin typeface="Arial"/>
                <a:cs typeface="Arial"/>
              </a:rPr>
              <a:t> </a:t>
            </a:r>
            <a:r>
              <a:rPr lang="en-US" sz="2000" b="1" dirty="0" err="1">
                <a:solidFill>
                  <a:schemeClr val="accent1">
                    <a:lumMod val="75000"/>
                  </a:schemeClr>
                </a:solidFill>
                <a:latin typeface="Arial"/>
                <a:cs typeface="Arial"/>
              </a:rPr>
              <a:t>Nikumbe</a:t>
            </a:r>
            <a:endParaRPr lang="en-US" sz="2000" b="1" dirty="0">
              <a:solidFill>
                <a:schemeClr val="accent1">
                  <a:lumMod val="75000"/>
                </a:schemeClr>
              </a:solidFill>
              <a:latin typeface="Arial"/>
              <a:cs typeface="Arial"/>
            </a:endParaRPr>
          </a:p>
          <a:p>
            <a:r>
              <a:rPr lang="en-US" sz="2000" b="1" dirty="0">
                <a:solidFill>
                  <a:schemeClr val="accent1">
                    <a:lumMod val="75000"/>
                  </a:schemeClr>
                </a:solidFill>
                <a:latin typeface="Arial"/>
                <a:cs typeface="Arial"/>
              </a:rPr>
              <a:t>College Name &amp; Department : Diploma in Computer Technology 		in K.K. </a:t>
            </a:r>
            <a:r>
              <a:rPr lang="en-US" sz="2000" b="1" dirty="0" err="1">
                <a:solidFill>
                  <a:schemeClr val="accent1">
                    <a:lumMod val="75000"/>
                  </a:schemeClr>
                </a:solidFill>
                <a:latin typeface="Arial"/>
                <a:cs typeface="Arial"/>
              </a:rPr>
              <a:t>Wagh</a:t>
            </a:r>
            <a:r>
              <a:rPr lang="en-US" sz="2000" b="1" dirty="0">
                <a:solidFill>
                  <a:schemeClr val="accent1">
                    <a:lumMod val="75000"/>
                  </a:schemeClr>
                </a:solidFill>
                <a:latin typeface="Arial"/>
                <a:cs typeface="Arial"/>
              </a:rPr>
              <a:t> Polytechnic ,Nashik </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lnSpc>
                <a:spcPct val="200000"/>
              </a:lnSpc>
              <a:buNone/>
            </a:pPr>
            <a:r>
              <a:rPr lang="en-US" sz="2400" dirty="0"/>
              <a:t>The project addresses the need for secure and covert communication by using image-based steganography. Traditional encryption can attract attention, while steganography hides data within images by modifying pixel values. The encoding script embeds secret text into an image, and the decoding script extracts the hidden message. This method ensures discreet data transmission without raising suspicion, making it useful for secure communication.</a:t>
            </a:r>
            <a:endParaRPr lang="en-IN" sz="2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6" name="Rectangle 3">
            <a:extLst>
              <a:ext uri="{FF2B5EF4-FFF2-40B4-BE49-F238E27FC236}">
                <a16:creationId xmlns:a16="http://schemas.microsoft.com/office/drawing/2014/main" id="{912A5C0A-F898-4A39-6EC2-C812159C349D}"/>
              </a:ext>
            </a:extLst>
          </p:cNvPr>
          <p:cNvSpPr>
            <a:spLocks noGrp="1" noChangeArrowheads="1"/>
          </p:cNvSpPr>
          <p:nvPr>
            <p:ph idx="1"/>
          </p:nvPr>
        </p:nvSpPr>
        <p:spPr bwMode="auto">
          <a:xfrm>
            <a:off x="924639" y="1974755"/>
            <a:ext cx="7597569" cy="2908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primary library used in this project is </a:t>
            </a:r>
            <a:r>
              <a:rPr kumimoji="0" lang="en-US" altLang="en-US" sz="1800" b="1" i="0" u="none" strike="noStrike" cap="none" normalizeH="0" baseline="0" dirty="0">
                <a:ln>
                  <a:noFill/>
                </a:ln>
                <a:solidFill>
                  <a:schemeClr val="tx1"/>
                </a:solidFill>
                <a:effectLst/>
                <a:latin typeface="Arial" panose="020B0604020202020204" pitchFamily="34" charset="0"/>
              </a:rPr>
              <a:t>Pillow (PIL)</a:t>
            </a:r>
            <a:r>
              <a:rPr kumimoji="0" lang="en-US" altLang="en-US" sz="1800" b="0" i="0" u="none" strike="noStrike" cap="none" normalizeH="0" baseline="0" dirty="0">
                <a:ln>
                  <a:noFill/>
                </a:ln>
                <a:solidFill>
                  <a:schemeClr val="tx1"/>
                </a:solidFill>
                <a:effectLst/>
                <a:latin typeface="Arial" panose="020B0604020202020204" pitchFamily="34" charset="0"/>
              </a:rPr>
              <a:t> for image processing. Other built-in Python libraries utilized include: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Itertools</a:t>
            </a:r>
            <a:r>
              <a:rPr kumimoji="0" lang="en-US" altLang="en-US" sz="1800" b="0" i="0" u="none" strike="noStrike" cap="none" normalizeH="0" baseline="0" dirty="0">
                <a:ln>
                  <a:noFill/>
                </a:ln>
                <a:solidFill>
                  <a:schemeClr val="tx1"/>
                </a:solidFill>
                <a:effectLst/>
                <a:latin typeface="Arial" panose="020B0604020202020204" pitchFamily="34" charset="0"/>
              </a:rPr>
              <a:t> (implicitly used via </a:t>
            </a:r>
            <a:r>
              <a:rPr kumimoji="0" lang="en-US" altLang="en-US" sz="2000" b="0" i="0" u="none" strike="noStrike" cap="none" normalizeH="0" baseline="0" dirty="0">
                <a:ln>
                  <a:noFill/>
                </a:ln>
                <a:solidFill>
                  <a:schemeClr val="tx1"/>
                </a:solidFill>
                <a:effectLst/>
                <a:latin typeface="Arial Unicode MS"/>
              </a:rPr>
              <a:t>iter()</a:t>
            </a:r>
            <a:r>
              <a:rPr kumimoji="0" lang="en-US" altLang="en-US" sz="2000" b="0" i="0" u="none" strike="noStrike" cap="none" normalizeH="0" baseline="0" dirty="0">
                <a:ln>
                  <a:noFill/>
                </a:ln>
                <a:solidFill>
                  <a:schemeClr val="tx1"/>
                </a:solidFill>
                <a:effectLst/>
              </a:rPr>
              <a:t>) for iterating over image pixel data.</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OS</a:t>
            </a:r>
            <a:r>
              <a:rPr kumimoji="0" lang="en-US" altLang="en-US" sz="1800" b="0" i="0" u="none" strike="noStrike" cap="none" normalizeH="0" baseline="0" dirty="0">
                <a:ln>
                  <a:noFill/>
                </a:ln>
                <a:solidFill>
                  <a:schemeClr val="tx1"/>
                </a:solidFill>
                <a:effectLst/>
                <a:latin typeface="Arial" panose="020B0604020202020204" pitchFamily="34" charset="0"/>
              </a:rPr>
              <a:t> (can be optionally used) for handling file operations.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a:t>
            </a:r>
            <a:r>
              <a:rPr kumimoji="0" lang="en-US" altLang="en-US" sz="1800" b="0" i="0" u="none" strike="noStrike" cap="none" normalizeH="0" baseline="0" dirty="0">
                <a:ln>
                  <a:noFill/>
                </a:ln>
                <a:solidFill>
                  <a:schemeClr val="tx1"/>
                </a:solidFill>
                <a:effectLst/>
                <a:latin typeface="Arial" panose="020B0604020202020204" pitchFamily="34" charset="0"/>
              </a:rPr>
              <a:t> (if extended) for command-line argument handling.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IN" sz="1800" b="1" dirty="0">
                <a:solidFill>
                  <a:srgbClr val="0F0F0F"/>
                </a:solidFill>
              </a:rPr>
              <a:t>What makes this p</a:t>
            </a:r>
            <a:r>
              <a:rPr kumimoji="0" lang="en-US" altLang="en-US" sz="1800" b="1" i="0" u="none" strike="noStrike" cap="none" normalizeH="0" baseline="0" dirty="0">
                <a:ln>
                  <a:noFill/>
                </a:ln>
                <a:solidFill>
                  <a:schemeClr val="tx1"/>
                </a:solidFill>
                <a:effectLst/>
                <a:latin typeface="Arial" panose="020B0604020202020204" pitchFamily="34" charset="0"/>
              </a:rPr>
              <a:t>Least Significant Bit (LSB) Steganography:</a:t>
            </a:r>
            <a:r>
              <a:rPr kumimoji="0" lang="en-US" altLang="en-US" sz="1800" b="0" i="0" u="none" strike="noStrike" cap="none" normalizeH="0" baseline="0" dirty="0">
                <a:ln>
                  <a:noFill/>
                </a:ln>
                <a:solidFill>
                  <a:schemeClr val="tx1"/>
                </a:solidFill>
                <a:effectLst/>
                <a:latin typeface="Arial" panose="020B0604020202020204" pitchFamily="34" charset="0"/>
              </a:rPr>
              <a:t> Uses a precise LSB modification technique to embed data without noticeable changes to the image.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External Dependencies Beyond PIL:</a:t>
            </a:r>
            <a:r>
              <a:rPr kumimoji="0" lang="en-US" altLang="en-US" sz="1800" b="0" i="0" u="none" strike="noStrike" cap="none" normalizeH="0" baseline="0" dirty="0">
                <a:ln>
                  <a:noFill/>
                </a:ln>
                <a:solidFill>
                  <a:schemeClr val="tx1"/>
                </a:solidFill>
                <a:effectLst/>
                <a:latin typeface="Arial" panose="020B0604020202020204" pitchFamily="34" charset="0"/>
              </a:rPr>
              <a:t> Unlike some steganography projects requiring complex cryptographic libraries, this project keeps it lightweight and efficient.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Simple Yet Effective Encoding &amp; Decoding:</a:t>
            </a:r>
            <a:r>
              <a:rPr kumimoji="0" lang="en-US" altLang="en-US" sz="1800" b="0" i="0" u="none" strike="noStrike" cap="none" normalizeH="0" baseline="0" dirty="0">
                <a:ln>
                  <a:noFill/>
                </a:ln>
                <a:solidFill>
                  <a:schemeClr val="tx1"/>
                </a:solidFill>
                <a:effectLst/>
                <a:latin typeface="Arial" panose="020B0604020202020204" pitchFamily="34" charset="0"/>
              </a:rPr>
              <a:t> The scripts are straightforward, making them easy to understand and implement while maintaining security. </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a:xfrm>
            <a:off x="462321" y="1311170"/>
            <a:ext cx="11029615" cy="4673324"/>
          </a:xfrm>
        </p:spPr>
        <p:txBody>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Cybersecurity Professionals</a:t>
            </a:r>
            <a:r>
              <a:rPr kumimoji="0" lang="en-US" altLang="en-US" sz="1600" b="0" i="0" u="none" strike="noStrike" cap="none" normalizeH="0" baseline="0" dirty="0">
                <a:ln>
                  <a:noFill/>
                </a:ln>
                <a:solidFill>
                  <a:schemeClr val="tx1"/>
                </a:solidFill>
                <a:effectLst/>
                <a:latin typeface="Arial" panose="020B0604020202020204" pitchFamily="34" charset="0"/>
              </a:rPr>
              <a:t> – Use steganography for secure communication and data protection.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Journalists &amp; Whistleblowers</a:t>
            </a:r>
            <a:r>
              <a:rPr kumimoji="0" lang="en-US" altLang="en-US" sz="1600" b="0" i="0" u="none" strike="noStrike" cap="none" normalizeH="0" baseline="0" dirty="0">
                <a:ln>
                  <a:noFill/>
                </a:ln>
                <a:solidFill>
                  <a:schemeClr val="tx1"/>
                </a:solidFill>
                <a:effectLst/>
                <a:latin typeface="Arial" panose="020B0604020202020204" pitchFamily="34" charset="0"/>
              </a:rPr>
              <a:t> – Hide sensitive information within images to avoid censorship and surveillance.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Military &amp; Intelligence Agencies</a:t>
            </a:r>
            <a:r>
              <a:rPr kumimoji="0" lang="en-US" altLang="en-US" sz="1600" b="0" i="0" u="none" strike="noStrike" cap="none" normalizeH="0" baseline="0" dirty="0">
                <a:ln>
                  <a:noFill/>
                </a:ln>
                <a:solidFill>
                  <a:schemeClr val="tx1"/>
                </a:solidFill>
                <a:effectLst/>
                <a:latin typeface="Arial" panose="020B0604020202020204" pitchFamily="34" charset="0"/>
              </a:rPr>
              <a:t> – Securely transmit confidential messages without drawing attention. </a:t>
            </a:r>
          </a:p>
          <a:p>
            <a:pPr marL="0" indent="0">
              <a:buNone/>
            </a:pPr>
            <a:endParaRPr lang="en-IN" dirty="0"/>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5" name="Content Placeholder 4" descr="A screenshot of a computer&#10;&#10;AI-generated content may be incorrect.">
            <a:extLst>
              <a:ext uri="{FF2B5EF4-FFF2-40B4-BE49-F238E27FC236}">
                <a16:creationId xmlns:a16="http://schemas.microsoft.com/office/drawing/2014/main" id="{4BD66087-90EA-7BFA-A914-0FC03BD4E698}"/>
              </a:ext>
            </a:extLst>
          </p:cNvPr>
          <p:cNvPicPr>
            <a:picLocks noGrp="1" noChangeAspect="1"/>
          </p:cNvPicPr>
          <p:nvPr>
            <p:ph idx="1"/>
          </p:nvPr>
        </p:nvPicPr>
        <p:blipFill>
          <a:blip r:embed="rId2"/>
          <a:stretch>
            <a:fillRect/>
          </a:stretch>
        </p:blipFill>
        <p:spPr>
          <a:xfrm>
            <a:off x="1697454" y="1301750"/>
            <a:ext cx="8797092" cy="4673600"/>
          </a:xfrm>
        </p:spPr>
      </p:pic>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a:xfrm>
            <a:off x="354413" y="1287316"/>
            <a:ext cx="11029615" cy="4673324"/>
          </a:xfrm>
        </p:spPr>
        <p:txBody>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project demonstrates a simple yet effective approach to secure communication using image-based steganography. By modifying the least significant bits of image pixels, it enables covert data embedding without noticeable changes to the image. The encoding and decoding scripts provide a lightweight, efficient, and easy-to-use solution for hiding sensitive information. With applications ranging from cybersecurity to personal privacy, this method ensures secure and discreet data transmission, making it a valuable tool for various users.</a:t>
            </a:r>
          </a:p>
        </p:txBody>
      </p:sp>
    </p:spTree>
    <p:extLst>
      <p:ext uri="{BB962C8B-B14F-4D97-AF65-F5344CB8AC3E}">
        <p14:creationId xmlns:p14="http://schemas.microsoft.com/office/powerpoint/2010/main" val="423388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lstStyle/>
          <a:p>
            <a:r>
              <a:rPr lang="en-IN" dirty="0"/>
              <a:t>https://github.com/ujwalnikumbe/python_project.git</a:t>
            </a:r>
          </a:p>
        </p:txBody>
      </p:sp>
    </p:spTree>
    <p:extLst>
      <p:ext uri="{BB962C8B-B14F-4D97-AF65-F5344CB8AC3E}">
        <p14:creationId xmlns:p14="http://schemas.microsoft.com/office/powerpoint/2010/main" val="223066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
        <p:nvSpPr>
          <p:cNvPr id="2" name="Content Placeholder 1">
            <a:extLst>
              <a:ext uri="{FF2B5EF4-FFF2-40B4-BE49-F238E27FC236}">
                <a16:creationId xmlns:a16="http://schemas.microsoft.com/office/drawing/2014/main" id="{923041C3-A729-7F0B-1717-57EF94397CD1}"/>
              </a:ext>
            </a:extLst>
          </p:cNvPr>
          <p:cNvSpPr>
            <a:spLocks noGrp="1" noChangeArrowheads="1"/>
          </p:cNvSpPr>
          <p:nvPr>
            <p:ph idx="1"/>
          </p:nvPr>
        </p:nvSpPr>
        <p:spPr bwMode="auto">
          <a:xfrm>
            <a:off x="581192" y="1973488"/>
            <a:ext cx="11029617"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Enhanced Security with Encryption</a:t>
            </a:r>
            <a:r>
              <a:rPr kumimoji="0" lang="en-US" altLang="en-US" sz="1800" b="0" i="0" u="none" strike="noStrike" cap="none" normalizeH="0" baseline="0" dirty="0">
                <a:ln>
                  <a:noFill/>
                </a:ln>
                <a:solidFill>
                  <a:schemeClr val="tx1"/>
                </a:solidFill>
                <a:effectLst/>
                <a:latin typeface="Arial" panose="020B0604020202020204" pitchFamily="34" charset="0"/>
              </a:rPr>
              <a:t> – Integrating encryption before embedding the data will add an extra layer of security.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 for Different Media Types</a:t>
            </a:r>
            <a:r>
              <a:rPr kumimoji="0" lang="en-US" altLang="en-US" sz="1800" b="0" i="0" u="none" strike="noStrike" cap="none" normalizeH="0" baseline="0" dirty="0">
                <a:ln>
                  <a:noFill/>
                </a:ln>
                <a:solidFill>
                  <a:schemeClr val="tx1"/>
                </a:solidFill>
                <a:effectLst/>
                <a:latin typeface="Arial" panose="020B0604020202020204" pitchFamily="34" charset="0"/>
              </a:rPr>
              <a:t> – Expanding steganography to audio, video, or documents for broader applications.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Increased Data Capacity</a:t>
            </a:r>
            <a:r>
              <a:rPr kumimoji="0" lang="en-US" altLang="en-US" sz="1800" b="0" i="0" u="none" strike="noStrike" cap="none" normalizeH="0" baseline="0" dirty="0">
                <a:ln>
                  <a:noFill/>
                </a:ln>
                <a:solidFill>
                  <a:schemeClr val="tx1"/>
                </a:solidFill>
                <a:effectLst/>
                <a:latin typeface="Arial" panose="020B0604020202020204" pitchFamily="34" charset="0"/>
              </a:rPr>
              <a:t> – Optimizing the algorithm to store larger amounts of hidden data without affecting image quality. </a:t>
            </a: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forward</Template>
  <TotalTime>44</TotalTime>
  <Words>465</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Unicode MS</vt:lpstr>
      <vt:lpstr>Calibri</vt:lpstr>
      <vt:lpstr>Calibri Light</vt:lpstr>
      <vt:lpstr>Franklin Gothic Book</vt:lpstr>
      <vt:lpstr>Franklin Gothic Demi</vt:lpstr>
      <vt:lpstr>Wingdings 2</vt:lpstr>
      <vt:lpstr>DividendVTI</vt:lpstr>
      <vt:lpstr>PROJECT TITLE</vt:lpstr>
      <vt:lpstr>OUTLINE</vt:lpstr>
      <vt:lpstr>Problem Statement</vt:lpstr>
      <vt:lpstr>Technology  used</vt:lpstr>
      <vt:lpstr>Wow factors</vt:lpstr>
      <vt:lpstr>End users</vt:lpstr>
      <vt:lpstr>Results</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shubham</cp:lastModifiedBy>
  <cp:revision>26</cp:revision>
  <dcterms:created xsi:type="dcterms:W3CDTF">2021-05-26T16:50:10Z</dcterms:created>
  <dcterms:modified xsi:type="dcterms:W3CDTF">2025-02-12T13:48:57Z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